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7801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DA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TRADING · INTERNSHIP PROJECT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CryptoSight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Crypto Trading Platform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1248" y="4343400"/>
            <a:ext cx="457200" cy="41148"/>
          </a:xfrm>
          <a:prstGeom prst="rect">
            <a:avLst/>
          </a:prstGeom>
          <a:solidFill>
            <a:srgbClr val="7DAD8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989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Afnan Shoukat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DA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00" name="ChartCard"/>
          <p:cNvSpPr/>
          <p:nvPr/>
        </p:nvSpPr>
        <p:spPr>
          <a:xfrm>
            <a:off x="7150000" y="1450000"/>
            <a:ext cx="4650000" cy="3800000"/>
          </a:xfrm>
          <a:prstGeom prst="roundRect">
            <a:avLst>
              <a:gd name="adj" fmla="val 45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8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Ticker"/>
          <p:cNvSpPr/>
          <p:nvPr/>
        </p:nvSpPr>
        <p:spPr>
          <a:xfrm>
            <a:off x="7430000" y="1680000"/>
            <a:ext cx="2400000" cy="24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</a:rPr>
              <a:t>BTC / USDT</a:t>
            </a:r>
          </a:p>
        </p:txBody>
      </p:sp>
      <p:cxnSp>
        <p:nvCxnSpPr>
          <p:cNvPr id="104" name="Grid"/>
          <p:cNvCxnSpPr/>
          <p:nvPr/>
        </p:nvCxnSpPr>
        <p:spPr>
          <a:xfrm>
            <a:off x="7430000" y="3227500"/>
            <a:ext cx="4090000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  <a:prstDash val="dash"/>
          </a:ln>
        </p:spPr>
      </p:cxnSp>
      <p:cxnSp>
        <p:nvCxnSpPr>
          <p:cNvPr id="105" name="Grid"/>
          <p:cNvCxnSpPr/>
          <p:nvPr/>
        </p:nvCxnSpPr>
        <p:spPr>
          <a:xfrm>
            <a:off x="7430000" y="3775000"/>
            <a:ext cx="4090000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  <a:prstDash val="dash"/>
          </a:ln>
        </p:spPr>
      </p:cxnSp>
      <p:cxnSp>
        <p:nvCxnSpPr>
          <p:cNvPr id="106" name="Grid"/>
          <p:cNvCxnSpPr/>
          <p:nvPr/>
        </p:nvCxnSpPr>
        <p:spPr>
          <a:xfrm>
            <a:off x="7430000" y="4322500"/>
            <a:ext cx="4090000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  <a:prstDash val="dash"/>
          </a:ln>
        </p:spPr>
      </p:cxnSp>
      <p:sp>
        <p:nvSpPr>
          <p:cNvPr id="107" name="Wick"/>
          <p:cNvSpPr/>
          <p:nvPr/>
        </p:nvSpPr>
        <p:spPr>
          <a:xfrm>
            <a:off x="7641317" y="3884500"/>
            <a:ext cx="31811" cy="810300"/>
          </a:xfrm>
          <a:prstGeom prst="rect">
            <a:avLst/>
          </a:prstGeom>
          <a:solidFill>
            <a:srgbClr val="E38B8B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Body"/>
          <p:cNvSpPr/>
          <p:nvPr/>
        </p:nvSpPr>
        <p:spPr>
          <a:xfrm>
            <a:off x="7557245" y="4037800"/>
            <a:ext cx="199955" cy="525600"/>
          </a:xfrm>
          <a:prstGeom prst="rect">
            <a:avLst/>
          </a:prstGeom>
          <a:solidFill>
            <a:srgbClr val="E38B8B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Wick"/>
          <p:cNvSpPr/>
          <p:nvPr/>
        </p:nvSpPr>
        <p:spPr>
          <a:xfrm>
            <a:off x="8095761" y="3643600"/>
            <a:ext cx="31811" cy="678900"/>
          </a:xfrm>
          <a:prstGeom prst="rect">
            <a:avLst/>
          </a:prstGeom>
          <a:solidFill>
            <a:srgbClr val="7DAD8C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Body"/>
          <p:cNvSpPr/>
          <p:nvPr/>
        </p:nvSpPr>
        <p:spPr>
          <a:xfrm>
            <a:off x="8011689" y="3775000"/>
            <a:ext cx="199955" cy="394200"/>
          </a:xfrm>
          <a:prstGeom prst="rect">
            <a:avLst/>
          </a:prstGeom>
          <a:solidFill>
            <a:srgbClr val="7DAD8C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Wick"/>
          <p:cNvSpPr/>
          <p:nvPr/>
        </p:nvSpPr>
        <p:spPr>
          <a:xfrm>
            <a:off x="8550205" y="3775000"/>
            <a:ext cx="31811" cy="657000"/>
          </a:xfrm>
          <a:prstGeom prst="rect">
            <a:avLst/>
          </a:prstGeom>
          <a:solidFill>
            <a:srgbClr val="E38B8B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Body"/>
          <p:cNvSpPr/>
          <p:nvPr/>
        </p:nvSpPr>
        <p:spPr>
          <a:xfrm>
            <a:off x="8466133" y="3906400"/>
            <a:ext cx="199955" cy="394199"/>
          </a:xfrm>
          <a:prstGeom prst="rect">
            <a:avLst/>
          </a:prstGeom>
          <a:solidFill>
            <a:srgbClr val="E38B8B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Wick"/>
          <p:cNvSpPr/>
          <p:nvPr/>
        </p:nvSpPr>
        <p:spPr>
          <a:xfrm>
            <a:off x="9004649" y="3402700"/>
            <a:ext cx="31811" cy="678900"/>
          </a:xfrm>
          <a:prstGeom prst="rect">
            <a:avLst/>
          </a:prstGeom>
          <a:solidFill>
            <a:srgbClr val="7DAD8C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Body"/>
          <p:cNvSpPr/>
          <p:nvPr/>
        </p:nvSpPr>
        <p:spPr>
          <a:xfrm>
            <a:off x="8920577" y="3556000"/>
            <a:ext cx="199955" cy="394199"/>
          </a:xfrm>
          <a:prstGeom prst="rect">
            <a:avLst/>
          </a:prstGeom>
          <a:solidFill>
            <a:srgbClr val="7DAD8C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Wick"/>
          <p:cNvSpPr/>
          <p:nvPr/>
        </p:nvSpPr>
        <p:spPr>
          <a:xfrm>
            <a:off x="9459093" y="3556000"/>
            <a:ext cx="31811" cy="613200"/>
          </a:xfrm>
          <a:prstGeom prst="rect">
            <a:avLst/>
          </a:prstGeom>
          <a:solidFill>
            <a:srgbClr val="E38B8B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Body"/>
          <p:cNvSpPr/>
          <p:nvPr/>
        </p:nvSpPr>
        <p:spPr>
          <a:xfrm>
            <a:off x="9375021" y="3687400"/>
            <a:ext cx="199955" cy="350399"/>
          </a:xfrm>
          <a:prstGeom prst="rect">
            <a:avLst/>
          </a:prstGeom>
          <a:solidFill>
            <a:srgbClr val="E38B8B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Wick"/>
          <p:cNvSpPr/>
          <p:nvPr/>
        </p:nvSpPr>
        <p:spPr>
          <a:xfrm>
            <a:off x="9913537" y="3205600"/>
            <a:ext cx="31811" cy="657000"/>
          </a:xfrm>
          <a:prstGeom prst="rect">
            <a:avLst/>
          </a:prstGeom>
          <a:solidFill>
            <a:srgbClr val="7DAD8C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Body"/>
          <p:cNvSpPr/>
          <p:nvPr/>
        </p:nvSpPr>
        <p:spPr>
          <a:xfrm>
            <a:off x="9829465" y="3337000"/>
            <a:ext cx="199955" cy="394200"/>
          </a:xfrm>
          <a:prstGeom prst="rect">
            <a:avLst/>
          </a:prstGeom>
          <a:solidFill>
            <a:srgbClr val="7DAD8C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Wick"/>
          <p:cNvSpPr/>
          <p:nvPr/>
        </p:nvSpPr>
        <p:spPr>
          <a:xfrm>
            <a:off x="10367981" y="3337000"/>
            <a:ext cx="31811" cy="569400"/>
          </a:xfrm>
          <a:prstGeom prst="rect">
            <a:avLst/>
          </a:prstGeom>
          <a:solidFill>
            <a:srgbClr val="E38B8B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Body"/>
          <p:cNvSpPr/>
          <p:nvPr/>
        </p:nvSpPr>
        <p:spPr>
          <a:xfrm>
            <a:off x="10283909" y="3468400"/>
            <a:ext cx="199955" cy="306600"/>
          </a:xfrm>
          <a:prstGeom prst="rect">
            <a:avLst/>
          </a:prstGeom>
          <a:solidFill>
            <a:srgbClr val="E38B8B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Wick"/>
          <p:cNvSpPr/>
          <p:nvPr/>
        </p:nvSpPr>
        <p:spPr>
          <a:xfrm>
            <a:off x="10822425" y="2899000"/>
            <a:ext cx="31811" cy="657000"/>
          </a:xfrm>
          <a:prstGeom prst="rect">
            <a:avLst/>
          </a:prstGeom>
          <a:solidFill>
            <a:srgbClr val="7DAD8C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Body"/>
          <p:cNvSpPr/>
          <p:nvPr/>
        </p:nvSpPr>
        <p:spPr>
          <a:xfrm>
            <a:off x="10738353" y="3030400"/>
            <a:ext cx="199955" cy="394200"/>
          </a:xfrm>
          <a:prstGeom prst="rect">
            <a:avLst/>
          </a:prstGeom>
          <a:solidFill>
            <a:srgbClr val="7DAD8C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Wick"/>
          <p:cNvSpPr/>
          <p:nvPr/>
        </p:nvSpPr>
        <p:spPr>
          <a:xfrm>
            <a:off x="11276869" y="2680000"/>
            <a:ext cx="31811" cy="613200"/>
          </a:xfrm>
          <a:prstGeom prst="rect">
            <a:avLst/>
          </a:prstGeom>
          <a:solidFill>
            <a:srgbClr val="7DAD8C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Body"/>
          <p:cNvSpPr/>
          <p:nvPr/>
        </p:nvSpPr>
        <p:spPr>
          <a:xfrm>
            <a:off x="11192797" y="2767600"/>
            <a:ext cx="199955" cy="394200"/>
          </a:xfrm>
          <a:prstGeom prst="rect">
            <a:avLst/>
          </a:prstGeom>
          <a:solidFill>
            <a:srgbClr val="7DAD8C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25" name="Trend"/>
          <p:cNvCxnSpPr/>
          <p:nvPr/>
        </p:nvCxnSpPr>
        <p:spPr>
          <a:xfrm flipV="1">
            <a:off x="7657222" y="3972100"/>
            <a:ext cx="454444" cy="328500"/>
          </a:xfrm>
          <a:prstGeom prst="line">
            <a:avLst/>
          </a:prstGeom>
          <a:ln w="19050">
            <a:solidFill>
              <a:srgbClr val="FFFFFF">
                <a:alpha val="55000"/>
              </a:srgbClr>
            </a:solidFill>
            <a:round/>
          </a:ln>
        </p:spPr>
      </p:cxnSp>
      <p:cxnSp>
        <p:nvCxnSpPr>
          <p:cNvPr id="126" name="Trend"/>
          <p:cNvCxnSpPr/>
          <p:nvPr/>
        </p:nvCxnSpPr>
        <p:spPr>
          <a:xfrm>
            <a:off x="8111666" y="3972100"/>
            <a:ext cx="454444" cy="131400"/>
          </a:xfrm>
          <a:prstGeom prst="line">
            <a:avLst/>
          </a:prstGeom>
          <a:ln w="19050">
            <a:solidFill>
              <a:srgbClr val="FFFFFF">
                <a:alpha val="55000"/>
              </a:srgbClr>
            </a:solidFill>
            <a:round/>
          </a:ln>
        </p:spPr>
      </p:cxnSp>
      <p:cxnSp>
        <p:nvCxnSpPr>
          <p:cNvPr id="127" name="Trend"/>
          <p:cNvCxnSpPr/>
          <p:nvPr/>
        </p:nvCxnSpPr>
        <p:spPr>
          <a:xfrm flipV="1">
            <a:off x="8566110" y="3753100"/>
            <a:ext cx="454444" cy="350400"/>
          </a:xfrm>
          <a:prstGeom prst="line">
            <a:avLst/>
          </a:prstGeom>
          <a:ln w="19050">
            <a:solidFill>
              <a:srgbClr val="FFFFFF">
                <a:alpha val="55000"/>
              </a:srgbClr>
            </a:solidFill>
            <a:round/>
          </a:ln>
        </p:spPr>
      </p:cxnSp>
      <p:cxnSp>
        <p:nvCxnSpPr>
          <p:cNvPr id="128" name="Trend"/>
          <p:cNvCxnSpPr/>
          <p:nvPr/>
        </p:nvCxnSpPr>
        <p:spPr>
          <a:xfrm>
            <a:off x="9020554" y="3753100"/>
            <a:ext cx="454444" cy="109500"/>
          </a:xfrm>
          <a:prstGeom prst="line">
            <a:avLst/>
          </a:prstGeom>
          <a:ln w="19050">
            <a:solidFill>
              <a:srgbClr val="FFFFFF">
                <a:alpha val="55000"/>
              </a:srgbClr>
            </a:solidFill>
            <a:round/>
          </a:ln>
        </p:spPr>
      </p:cxnSp>
      <p:cxnSp>
        <p:nvCxnSpPr>
          <p:cNvPr id="129" name="Trend"/>
          <p:cNvCxnSpPr/>
          <p:nvPr/>
        </p:nvCxnSpPr>
        <p:spPr>
          <a:xfrm flipV="1">
            <a:off x="9474998" y="3534100"/>
            <a:ext cx="454444" cy="328500"/>
          </a:xfrm>
          <a:prstGeom prst="line">
            <a:avLst/>
          </a:prstGeom>
          <a:ln w="19050">
            <a:solidFill>
              <a:srgbClr val="FFFFFF">
                <a:alpha val="55000"/>
              </a:srgbClr>
            </a:solidFill>
            <a:round/>
          </a:ln>
        </p:spPr>
      </p:cxnSp>
      <p:cxnSp>
        <p:nvCxnSpPr>
          <p:cNvPr id="130" name="Trend"/>
          <p:cNvCxnSpPr/>
          <p:nvPr/>
        </p:nvCxnSpPr>
        <p:spPr>
          <a:xfrm>
            <a:off x="9929442" y="3534100"/>
            <a:ext cx="454444" cy="87600"/>
          </a:xfrm>
          <a:prstGeom prst="line">
            <a:avLst/>
          </a:prstGeom>
          <a:ln w="19050">
            <a:solidFill>
              <a:srgbClr val="FFFFFF">
                <a:alpha val="55000"/>
              </a:srgbClr>
            </a:solidFill>
            <a:round/>
          </a:ln>
        </p:spPr>
      </p:cxnSp>
      <p:cxnSp>
        <p:nvCxnSpPr>
          <p:cNvPr id="131" name="Trend"/>
          <p:cNvCxnSpPr/>
          <p:nvPr/>
        </p:nvCxnSpPr>
        <p:spPr>
          <a:xfrm flipV="1">
            <a:off x="10383886" y="3227500"/>
            <a:ext cx="454444" cy="394200"/>
          </a:xfrm>
          <a:prstGeom prst="line">
            <a:avLst/>
          </a:prstGeom>
          <a:ln w="19050">
            <a:solidFill>
              <a:srgbClr val="FFFFFF">
                <a:alpha val="55000"/>
              </a:srgbClr>
            </a:solidFill>
            <a:round/>
          </a:ln>
        </p:spPr>
      </p:cxnSp>
      <p:cxnSp>
        <p:nvCxnSpPr>
          <p:cNvPr id="132" name="Trend"/>
          <p:cNvCxnSpPr/>
          <p:nvPr/>
        </p:nvCxnSpPr>
        <p:spPr>
          <a:xfrm flipV="1">
            <a:off x="10838330" y="2964700"/>
            <a:ext cx="454444" cy="262800"/>
          </a:xfrm>
          <a:prstGeom prst="line">
            <a:avLst/>
          </a:prstGeom>
          <a:ln w="19050">
            <a:solidFill>
              <a:srgbClr val="FFFFFF">
                <a:alpha val="55000"/>
              </a:srgbClr>
            </a:solidFill>
            <a:round/>
          </a:ln>
        </p:spPr>
      </p:cxnSp>
      <p:cxnSp>
        <p:nvCxnSpPr>
          <p:cNvPr id="133" name="Baseline"/>
          <p:cNvCxnSpPr/>
          <p:nvPr/>
        </p:nvCxnSpPr>
        <p:spPr>
          <a:xfrm>
            <a:off x="7430000" y="4930000"/>
            <a:ext cx="4090000" cy="0"/>
          </a:xfrm>
          <a:prstGeom prst="line">
            <a:avLst/>
          </a:prstGeom>
          <a:ln w="9525">
            <a:solidFill>
              <a:srgbClr val="FFFFFF">
                <a:alpha val="20000"/>
              </a:srgbClr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CryptoSight?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 quant platform for crypto markets.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5568" y="2441448"/>
            <a:ext cx="713232" cy="713232"/>
          </a:xfrm>
          <a:prstGeom prst="ellipse">
            <a:avLst/>
          </a:prstGeom>
          <a:solidFill>
            <a:srgbClr val="5E8B6E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7" name="Image 0" descr="/home/claude/cryptosight_ppt/icons/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744" y="2612624"/>
            <a:ext cx="370881" cy="37088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319272"/>
            <a:ext cx="279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450080" y="214884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42688" y="2441448"/>
            <a:ext cx="713232" cy="713232"/>
          </a:xfrm>
          <a:prstGeom prst="ellipse">
            <a:avLst/>
          </a:prstGeom>
          <a:solidFill>
            <a:srgbClr val="7DAD8C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1" name="Image 1" descr="/home/claude/cryptosight_ppt/icons/chartli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3864" y="2612624"/>
            <a:ext cx="370881" cy="3708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6112" y="3319272"/>
            <a:ext cx="279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8077200" y="214884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9808" y="2441448"/>
            <a:ext cx="713232" cy="713232"/>
          </a:xfrm>
          <a:prstGeom prst="ellipse">
            <a:avLst/>
          </a:prstGeom>
          <a:solidFill>
            <a:srgbClr val="F59E0B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5" name="Image 2" descr="/home/claude/cryptosight_ppt/icons/broadcas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984" y="2612624"/>
            <a:ext cx="370881" cy="37088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33232" y="3319272"/>
            <a:ext cx="279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Engine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822960" y="434340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1115568" y="4636008"/>
            <a:ext cx="713232" cy="713232"/>
          </a:xfrm>
          <a:prstGeom prst="ellipse">
            <a:avLst/>
          </a:prstGeom>
          <a:solidFill>
            <a:srgbClr val="2D4A38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9" name="Image 3" descr="/home/claude/cryptosight_ppt/icons/brain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6744" y="4807184"/>
            <a:ext cx="370881" cy="37088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78992" y="5513832"/>
            <a:ext cx="279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&amp; ML</a:t>
            </a:r>
            <a:endParaRPr lang="en-US" sz="1550" dirty="0"/>
          </a:p>
        </p:txBody>
      </p:sp>
      <p:sp>
        <p:nvSpPr>
          <p:cNvPr id="21" name="Shape 15"/>
          <p:cNvSpPr/>
          <p:nvPr/>
        </p:nvSpPr>
        <p:spPr>
          <a:xfrm>
            <a:off x="4450080" y="434340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742688" y="4636008"/>
            <a:ext cx="713232" cy="713232"/>
          </a:xfrm>
          <a:prstGeom prst="ellipse">
            <a:avLst/>
          </a:prstGeom>
          <a:solidFill>
            <a:srgbClr val="22C55E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23" name="Image 4" descr="/home/claude/cryptosight_ppt/icons/bol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3864" y="4807184"/>
            <a:ext cx="370881" cy="37088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706112" y="5513832"/>
            <a:ext cx="279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Execution</a:t>
            </a:r>
            <a:endParaRPr lang="en-US" sz="1550" dirty="0"/>
          </a:p>
        </p:txBody>
      </p:sp>
      <p:sp>
        <p:nvSpPr>
          <p:cNvPr id="25" name="Shape 18"/>
          <p:cNvSpPr/>
          <p:nvPr/>
        </p:nvSpPr>
        <p:spPr>
          <a:xfrm>
            <a:off x="8077200" y="434340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369808" y="4636008"/>
            <a:ext cx="713232" cy="713232"/>
          </a:xfrm>
          <a:prstGeom prst="ellipse">
            <a:avLst/>
          </a:prstGeom>
          <a:solidFill>
            <a:srgbClr val="EE5D5D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27" name="Image 5" descr="/home/claude/cryptosight_ppt/icons/smile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0984" y="4807184"/>
            <a:ext cx="370881" cy="37088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333232" y="5513832"/>
            <a:ext cx="279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AI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100" name="Panel"/>
          <p:cNvSpPr/>
          <p:nvPr/>
        </p:nvSpPr>
        <p:spPr>
          <a:xfrm>
            <a:off x="822960" y="1874520"/>
            <a:ext cx="5097780" cy="4762104"/>
          </a:xfrm>
          <a:prstGeom prst="roundRect">
            <a:avLst>
              <a:gd name="adj" fmla="val 3556"/>
            </a:avLst>
          </a:prstGeom>
          <a:solidFill>
            <a:srgbClr val="FBEEE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1" name="HeaderCircle"/>
          <p:cNvSpPr/>
          <p:nvPr/>
        </p:nvSpPr>
        <p:spPr>
          <a:xfrm>
            <a:off x="1188720" y="2174520"/>
            <a:ext cx="560000" cy="560000"/>
          </a:xfrm>
          <a:prstGeom prst="ellipse">
            <a:avLst/>
          </a:prstGeom>
          <a:solidFill>
            <a:srgbClr val="EE5D5D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02" name="Image" descr="clo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720" y="2309520"/>
            <a:ext cx="290000" cy="290000"/>
          </a:xfrm>
          <a:prstGeom prst="rect">
            <a:avLst/>
          </a:prstGeom>
        </p:spPr>
      </p:pic>
      <p:sp>
        <p:nvSpPr>
          <p:cNvPr id="103" name="Label"/>
          <p:cNvSpPr/>
          <p:nvPr/>
        </p:nvSpPr>
        <p:spPr>
          <a:xfrm>
            <a:off x="1188720" y="2844520"/>
            <a:ext cx="4366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E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104" name="RowCircle"/>
          <p:cNvSpPr/>
          <p:nvPr/>
        </p:nvSpPr>
        <p:spPr>
          <a:xfrm>
            <a:off x="1188720" y="3247128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05" name="Image" descr="xcirc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3356856"/>
            <a:ext cx="237744" cy="237744"/>
          </a:xfrm>
          <a:prstGeom prst="rect">
            <a:avLst/>
          </a:prstGeom>
        </p:spPr>
      </p:pic>
      <p:sp>
        <p:nvSpPr>
          <p:cNvPr id="106" name="RowText"/>
          <p:cNvSpPr/>
          <p:nvPr/>
        </p:nvSpPr>
        <p:spPr>
          <a:xfrm>
            <a:off x="1783080" y="3192264"/>
            <a:ext cx="3771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watch charts 24/7</a:t>
            </a:r>
            <a:endParaRPr lang="en-US" sz="1350" dirty="0"/>
          </a:p>
        </p:txBody>
      </p:sp>
      <p:sp>
        <p:nvSpPr>
          <p:cNvPr id="107" name="RowCircle"/>
          <p:cNvSpPr/>
          <p:nvPr/>
        </p:nvSpPr>
        <p:spPr>
          <a:xfrm>
            <a:off x="1188720" y="3897128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08" name="Image" descr="xcirc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4006856"/>
            <a:ext cx="237744" cy="237744"/>
          </a:xfrm>
          <a:prstGeom prst="rect">
            <a:avLst/>
          </a:prstGeom>
        </p:spPr>
      </p:pic>
      <p:sp>
        <p:nvSpPr>
          <p:cNvPr id="109" name="RowText"/>
          <p:cNvSpPr/>
          <p:nvPr/>
        </p:nvSpPr>
        <p:spPr>
          <a:xfrm>
            <a:off x="1783080" y="3842264"/>
            <a:ext cx="3771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indicators to track manually</a:t>
            </a:r>
            <a:endParaRPr lang="en-US" sz="1350" dirty="0"/>
          </a:p>
        </p:txBody>
      </p:sp>
      <p:sp>
        <p:nvSpPr>
          <p:cNvPr id="110" name="RowCircle"/>
          <p:cNvSpPr/>
          <p:nvPr/>
        </p:nvSpPr>
        <p:spPr>
          <a:xfrm>
            <a:off x="1188720" y="4547128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11" name="Image" descr="xcirc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4656856"/>
            <a:ext cx="237744" cy="237744"/>
          </a:xfrm>
          <a:prstGeom prst="rect">
            <a:avLst/>
          </a:prstGeom>
        </p:spPr>
      </p:pic>
      <p:sp>
        <p:nvSpPr>
          <p:cNvPr id="112" name="RowText"/>
          <p:cNvSpPr/>
          <p:nvPr/>
        </p:nvSpPr>
        <p:spPr>
          <a:xfrm>
            <a:off x="1783080" y="4492264"/>
            <a:ext cx="3771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missed = opportunities lost</a:t>
            </a:r>
            <a:endParaRPr lang="en-US" sz="1350" dirty="0"/>
          </a:p>
        </p:txBody>
      </p:sp>
      <p:sp>
        <p:nvSpPr>
          <p:cNvPr id="113" name="RowCircle"/>
          <p:cNvSpPr/>
          <p:nvPr/>
        </p:nvSpPr>
        <p:spPr>
          <a:xfrm>
            <a:off x="1188720" y="5197128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14" name="Image" descr="xcirc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5306856"/>
            <a:ext cx="237744" cy="237744"/>
          </a:xfrm>
          <a:prstGeom prst="rect">
            <a:avLst/>
          </a:prstGeom>
        </p:spPr>
      </p:pic>
      <p:sp>
        <p:nvSpPr>
          <p:cNvPr id="115" name="RowText"/>
          <p:cNvSpPr/>
          <p:nvPr/>
        </p:nvSpPr>
        <p:spPr>
          <a:xfrm>
            <a:off x="1783080" y="5142264"/>
            <a:ext cx="3771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placed on gut feeling, not a tested strategy</a:t>
            </a:r>
            <a:endParaRPr lang="en-US" sz="1350" dirty="0"/>
          </a:p>
        </p:txBody>
      </p:sp>
      <p:sp>
        <p:nvSpPr>
          <p:cNvPr id="116" name="RowCircle"/>
          <p:cNvSpPr/>
          <p:nvPr/>
        </p:nvSpPr>
        <p:spPr>
          <a:xfrm>
            <a:off x="1188720" y="5847128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17" name="Image" descr="xcirc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5956856"/>
            <a:ext cx="237744" cy="237744"/>
          </a:xfrm>
          <a:prstGeom prst="rect">
            <a:avLst/>
          </a:prstGeom>
        </p:spPr>
      </p:pic>
      <p:sp>
        <p:nvSpPr>
          <p:cNvPr id="118" name="RowText"/>
          <p:cNvSpPr/>
          <p:nvPr/>
        </p:nvSpPr>
        <p:spPr>
          <a:xfrm>
            <a:off x="1783080" y="5792264"/>
            <a:ext cx="3771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compare strategies before risking capital</a:t>
            </a:r>
            <a:endParaRPr lang="en-US" sz="1350" dirty="0"/>
          </a:p>
        </p:txBody>
      </p:sp>
      <p:sp>
        <p:nvSpPr>
          <p:cNvPr id="119" name="Panel"/>
          <p:cNvSpPr/>
          <p:nvPr/>
        </p:nvSpPr>
        <p:spPr>
          <a:xfrm>
            <a:off x="6286500" y="1874520"/>
            <a:ext cx="5097780" cy="4762104"/>
          </a:xfrm>
          <a:prstGeom prst="roundRect">
            <a:avLst>
              <a:gd name="adj" fmla="val 3556"/>
            </a:avLst>
          </a:prstGeom>
          <a:solidFill>
            <a:srgbClr val="2D4A38"/>
          </a:solidFill>
          <a:ln/>
          <a:effectLst>
            <a:outerShdw blurRad="254000" dist="101600" dir="5400000" algn="bl" rotWithShape="0">
              <a:srgbClr val="1B2A21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0" name="HeaderCircle"/>
          <p:cNvSpPr/>
          <p:nvPr/>
        </p:nvSpPr>
        <p:spPr>
          <a:xfrm>
            <a:off x="6652260" y="2174520"/>
            <a:ext cx="560000" cy="560000"/>
          </a:xfrm>
          <a:prstGeom prst="ellipse">
            <a:avLst/>
          </a:prstGeom>
          <a:solidFill>
            <a:srgbClr val="7DAD8C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21" name="Image" descr="ey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7260" y="2309520"/>
            <a:ext cx="290000" cy="290000"/>
          </a:xfrm>
          <a:prstGeom prst="rect">
            <a:avLst/>
          </a:prstGeom>
        </p:spPr>
      </p:pic>
      <p:sp>
        <p:nvSpPr>
          <p:cNvPr id="122" name="Label"/>
          <p:cNvSpPr/>
          <p:nvPr/>
        </p:nvSpPr>
        <p:spPr>
          <a:xfrm>
            <a:off x="6652260" y="2844520"/>
            <a:ext cx="4366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DA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CRYPTOSIGHT</a:t>
            </a:r>
            <a:endParaRPr lang="en-US" sz="1100" dirty="0"/>
          </a:p>
        </p:txBody>
      </p:sp>
      <p:sp>
        <p:nvSpPr>
          <p:cNvPr id="123" name="RowCircle"/>
          <p:cNvSpPr/>
          <p:nvPr/>
        </p:nvSpPr>
        <p:spPr>
          <a:xfrm>
            <a:off x="6652260" y="3247128"/>
            <a:ext cx="457200" cy="457200"/>
          </a:xfrm>
          <a:prstGeom prst="ellipse">
            <a:avLst/>
          </a:prstGeom>
          <a:solidFill>
            <a:srgbClr val="7DAD8C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24" name="Image" descr="check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1988" y="3356856"/>
            <a:ext cx="237744" cy="237744"/>
          </a:xfrm>
          <a:prstGeom prst="rect">
            <a:avLst/>
          </a:prstGeom>
        </p:spPr>
      </p:pic>
      <p:sp>
        <p:nvSpPr>
          <p:cNvPr id="125" name="RowText"/>
          <p:cNvSpPr/>
          <p:nvPr/>
        </p:nvSpPr>
        <p:spPr>
          <a:xfrm>
            <a:off x="7246620" y="3192264"/>
            <a:ext cx="3771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the market 24/7</a:t>
            </a:r>
            <a:endParaRPr lang="en-US" sz="1350" dirty="0"/>
          </a:p>
        </p:txBody>
      </p:sp>
      <p:sp>
        <p:nvSpPr>
          <p:cNvPr id="126" name="RowCircle"/>
          <p:cNvSpPr/>
          <p:nvPr/>
        </p:nvSpPr>
        <p:spPr>
          <a:xfrm>
            <a:off x="6652260" y="3897128"/>
            <a:ext cx="457200" cy="457200"/>
          </a:xfrm>
          <a:prstGeom prst="ellipse">
            <a:avLst/>
          </a:prstGeom>
          <a:solidFill>
            <a:srgbClr val="7DAD8C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27" name="Image" descr="check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1988" y="4006856"/>
            <a:ext cx="237744" cy="237744"/>
          </a:xfrm>
          <a:prstGeom prst="rect">
            <a:avLst/>
          </a:prstGeom>
        </p:spPr>
      </p:pic>
      <p:sp>
        <p:nvSpPr>
          <p:cNvPr id="128" name="RowText"/>
          <p:cNvSpPr/>
          <p:nvPr/>
        </p:nvSpPr>
        <p:spPr>
          <a:xfrm>
            <a:off x="7246620" y="3842264"/>
            <a:ext cx="3771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Auto-checks every signal &amp; indicator</a:t>
            </a:r>
            <a:endParaRPr lang="en-US" sz="1350" dirty="0"/>
          </a:p>
        </p:txBody>
      </p:sp>
      <p:sp>
        <p:nvSpPr>
          <p:cNvPr id="129" name="RowCircle"/>
          <p:cNvSpPr/>
          <p:nvPr/>
        </p:nvSpPr>
        <p:spPr>
          <a:xfrm>
            <a:off x="6652260" y="4547128"/>
            <a:ext cx="457200" cy="457200"/>
          </a:xfrm>
          <a:prstGeom prst="ellipse">
            <a:avLst/>
          </a:prstGeom>
          <a:solidFill>
            <a:srgbClr val="7DAD8C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30" name="Image" descr="check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1988" y="4656856"/>
            <a:ext cx="237744" cy="237744"/>
          </a:xfrm>
          <a:prstGeom prst="rect">
            <a:avLst/>
          </a:prstGeom>
        </p:spPr>
      </p:pic>
      <p:sp>
        <p:nvSpPr>
          <p:cNvPr id="131" name="RowText"/>
          <p:cNvSpPr/>
          <p:nvPr/>
        </p:nvSpPr>
        <p:spPr>
          <a:xfrm>
            <a:off x="7246620" y="4492264"/>
            <a:ext cx="3771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executes, reports - one dashboard</a:t>
            </a:r>
            <a:endParaRPr lang="en-US" sz="1350" dirty="0"/>
          </a:p>
        </p:txBody>
      </p:sp>
      <p:sp>
        <p:nvSpPr>
          <p:cNvPr id="132" name="RowCircle"/>
          <p:cNvSpPr/>
          <p:nvPr/>
        </p:nvSpPr>
        <p:spPr>
          <a:xfrm>
            <a:off x="6652260" y="5197128"/>
            <a:ext cx="457200" cy="457200"/>
          </a:xfrm>
          <a:prstGeom prst="ellipse">
            <a:avLst/>
          </a:prstGeom>
          <a:solidFill>
            <a:srgbClr val="7DAD8C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33" name="Image" descr="check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1988" y="5306856"/>
            <a:ext cx="237744" cy="237744"/>
          </a:xfrm>
          <a:prstGeom prst="rect">
            <a:avLst/>
          </a:prstGeom>
        </p:spPr>
      </p:pic>
      <p:sp>
        <p:nvSpPr>
          <p:cNvPr id="134" name="RowText"/>
          <p:cNvSpPr/>
          <p:nvPr/>
        </p:nvSpPr>
        <p:spPr>
          <a:xfrm>
            <a:off x="7246620" y="5142264"/>
            <a:ext cx="3771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strategy backtested on historical data first</a:t>
            </a:r>
            <a:endParaRPr lang="en-US" sz="1350" dirty="0"/>
          </a:p>
        </p:txBody>
      </p:sp>
      <p:sp>
        <p:nvSpPr>
          <p:cNvPr id="135" name="RowCircle"/>
          <p:cNvSpPr/>
          <p:nvPr/>
        </p:nvSpPr>
        <p:spPr>
          <a:xfrm>
            <a:off x="6652260" y="5847128"/>
            <a:ext cx="457200" cy="457200"/>
          </a:xfrm>
          <a:prstGeom prst="ellipse">
            <a:avLst/>
          </a:prstGeom>
          <a:solidFill>
            <a:srgbClr val="7DAD8C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36" name="Image" descr="check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1988" y="5956856"/>
            <a:ext cx="237744" cy="237744"/>
          </a:xfrm>
          <a:prstGeom prst="rect">
            <a:avLst/>
          </a:prstGeom>
        </p:spPr>
      </p:pic>
      <p:sp>
        <p:nvSpPr>
          <p:cNvPr id="137" name="RowText"/>
          <p:cNvSpPr/>
          <p:nvPr/>
        </p:nvSpPr>
        <p:spPr>
          <a:xfrm>
            <a:off x="7246620" y="5792264"/>
            <a:ext cx="3771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Backtests across multiple assets to find what works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498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400" dirty="0"/>
          </a:p>
        </p:txBody>
      </p:sp>
      <p:pic>
        <p:nvPicPr>
          <p:cNvPr id="4" name="Image 0" descr="/home/claude/cryptosight_ppt/bg/pipeline_connect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220" y="2994660"/>
            <a:ext cx="868680" cy="868680"/>
          </a:xfrm>
          <a:prstGeom prst="ellipse">
            <a:avLst/>
          </a:prstGeom>
          <a:solidFill>
            <a:srgbClr val="7DAD8C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6" name="Image 1" descr="/home/claude/cryptosight_ppt/icons/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03" y="3203143"/>
            <a:ext cx="451714" cy="4517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" y="39730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628900" y="2263140"/>
            <a:ext cx="868680" cy="868680"/>
          </a:xfrm>
          <a:prstGeom prst="ellipse">
            <a:avLst/>
          </a:prstGeom>
          <a:solidFill>
            <a:srgbClr val="5E8B6E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9" name="Image 2" descr="/home/claude/cryptosight_ppt/icons/chartba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7383" y="2471623"/>
            <a:ext cx="451714" cy="4517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94560" y="32415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Signals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640580" y="3543300"/>
            <a:ext cx="868680" cy="868680"/>
          </a:xfrm>
          <a:prstGeom prst="ellipse">
            <a:avLst/>
          </a:prstGeom>
          <a:solidFill>
            <a:srgbClr val="4A7A5A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2" name="Image 3" descr="/home/claude/cryptosight_ppt/icons/brain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9063" y="3751783"/>
            <a:ext cx="451714" cy="4517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206240" y="452170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ML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652260" y="2263140"/>
            <a:ext cx="868680" cy="868680"/>
          </a:xfrm>
          <a:prstGeom prst="ellipse">
            <a:avLst/>
          </a:prstGeom>
          <a:solidFill>
            <a:srgbClr val="F59E0B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5" name="Image 4" descr="/home/claude/cryptosight_ppt/icons/bol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0743" y="2471623"/>
            <a:ext cx="451714" cy="45171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17920" y="32415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8663940" y="3543300"/>
            <a:ext cx="868680" cy="868680"/>
          </a:xfrm>
          <a:prstGeom prst="ellipse">
            <a:avLst/>
          </a:prstGeom>
          <a:solidFill>
            <a:srgbClr val="4A7A5A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8" name="Image 5" descr="/home/claude/cryptosight_ppt/icons/server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2423" y="3751783"/>
            <a:ext cx="451714" cy="45171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29600" y="452170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0" name="Shape 12"/>
          <p:cNvSpPr/>
          <p:nvPr/>
        </p:nvSpPr>
        <p:spPr>
          <a:xfrm>
            <a:off x="10675620" y="2994660"/>
            <a:ext cx="868680" cy="868680"/>
          </a:xfrm>
          <a:prstGeom prst="ellipse">
            <a:avLst/>
          </a:prstGeom>
          <a:solidFill>
            <a:srgbClr val="2D4A38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21" name="Image 6" descr="/home/claude/cryptosight_ppt/icons/desktop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84103" y="3203143"/>
            <a:ext cx="451714" cy="45171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241280" y="39730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 building CryptoSight from scratch.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5568" y="2441448"/>
            <a:ext cx="658368" cy="658368"/>
          </a:xfrm>
          <a:prstGeom prst="ellipse">
            <a:avLst/>
          </a:prstGeom>
          <a:solidFill>
            <a:srgbClr val="5E8B6E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7" name="Image 0" descr="/home/claude/cryptosight_ppt/icons/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576" y="2599456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227832"/>
            <a:ext cx="279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78992" y="3538728"/>
            <a:ext cx="2795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reliable market data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50080" y="214884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42688" y="2441448"/>
            <a:ext cx="658368" cy="658368"/>
          </a:xfrm>
          <a:prstGeom prst="ellipse">
            <a:avLst/>
          </a:prstGeom>
          <a:solidFill>
            <a:srgbClr val="2D4A38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2" name="Image 1" descr="/home/claude/cryptosight_ppt/icons/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696" y="2599456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6112" y="3227832"/>
            <a:ext cx="279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Future Leakage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706112" y="3538728"/>
            <a:ext cx="2795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Backtests use only past data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77200" y="214884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9808" y="2441448"/>
            <a:ext cx="658368" cy="658368"/>
          </a:xfrm>
          <a:prstGeom prst="ellipse">
            <a:avLst/>
          </a:prstGeom>
          <a:solidFill>
            <a:srgbClr val="4A7A5A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7" name="Image 2" descr="/home/claude/cryptosight_ppt/icons/brai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7816" y="2599456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3232" y="3227832"/>
            <a:ext cx="279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33232" y="3538728"/>
            <a:ext cx="2795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features to predictions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22960" y="434340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115568" y="4636008"/>
            <a:ext cx="658368" cy="658368"/>
          </a:xfrm>
          <a:prstGeom prst="ellipse">
            <a:avLst/>
          </a:prstGeom>
          <a:solidFill>
            <a:srgbClr val="7DAD8C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22" name="Image 3" descr="/home/claude/cryptosight_ppt/icons/chartba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3576" y="4794016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78992" y="5422392"/>
            <a:ext cx="279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078992" y="5733288"/>
            <a:ext cx="2795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drawdown &amp; more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50080" y="434340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42688" y="4636008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27" name="Image 4" descr="/home/claude/cryptosight_ppt/icons/smil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0696" y="4794016"/>
            <a:ext cx="342351" cy="34235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06112" y="5422392"/>
            <a:ext cx="279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AI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706112" y="5733288"/>
            <a:ext cx="2795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market mood from Reddit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77200" y="434340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69808" y="4636008"/>
            <a:ext cx="658368" cy="658368"/>
          </a:xfrm>
          <a:prstGeom prst="ellipse">
            <a:avLst/>
          </a:prstGeom>
          <a:solidFill>
            <a:srgbClr val="22C55E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32" name="Image 5" descr="/home/claude/cryptosight_ppt/icons/bolt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7816" y="4794016"/>
            <a:ext cx="342351" cy="34235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33232" y="5422392"/>
            <a:ext cx="279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Trading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33232" y="5733288"/>
            <a:ext cx="2795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a real exchange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Add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ideas to make CryptoSight even smarter.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783330" y="2233987"/>
            <a:ext cx="50977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88784" y="2485302"/>
            <a:ext cx="658368" cy="658368"/>
          </a:xfrm>
          <a:prstGeom prst="ellipse">
            <a:avLst/>
          </a:prstGeom>
          <a:solidFill>
            <a:srgbClr val="5E8B6E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7" name="Image 0" descr="/home/claude/cryptosight_ppt/icons/robo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745" y="2599405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52606" y="2471389"/>
            <a:ext cx="3726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ENHANCEMENT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830113" y="2777910"/>
            <a:ext cx="3726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34306" y="3241548"/>
            <a:ext cx="4512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strategies by typing in plain English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22960" y="4480560"/>
            <a:ext cx="50977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115568" y="4773168"/>
            <a:ext cx="658368" cy="658368"/>
          </a:xfrm>
          <a:prstGeom prst="ellipse">
            <a:avLst/>
          </a:prstGeom>
          <a:solidFill>
            <a:srgbClr val="4A7A5A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9" name="Image 2" descr="/home/claude/cryptosight_ppt/icons/chartba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3576" y="4931176"/>
            <a:ext cx="342351" cy="34235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20240" y="4828032"/>
            <a:ext cx="3726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ENHANCEMENT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920240" y="5084064"/>
            <a:ext cx="3726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Ranker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115568" y="5650992"/>
            <a:ext cx="4512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trades by chance of winning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286500" y="4480560"/>
            <a:ext cx="50977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79108" y="4773168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25" name="Image 3" descr="/home/claude/cryptosight_ppt/icons/serv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7116" y="4931176"/>
            <a:ext cx="342351" cy="34235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83780" y="4828032"/>
            <a:ext cx="3726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383780" y="5084064"/>
            <a:ext cx="3726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Multi-Exchange Support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6579108" y="5650992"/>
            <a:ext cx="4512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and trade across more exchanges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D96D4B-4758-694F-F98A-B945BCD73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05" y="1490472"/>
            <a:ext cx="10213910" cy="4858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DA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2834640"/>
            <a:ext cx="434526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841248" y="4160520"/>
            <a:ext cx="457200" cy="41148"/>
          </a:xfrm>
          <a:prstGeom prst="rect">
            <a:avLst/>
          </a:prstGeom>
          <a:solidFill>
            <a:srgbClr val="7DAD8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343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DA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Afnan Shoukat</a:t>
            </a:r>
            <a:endParaRPr lang="en-US" sz="1200" dirty="0"/>
          </a:p>
        </p:txBody>
      </p:sp>
      <p:sp>
        <p:nvSpPr>
          <p:cNvPr id="200" name="Candle Wick 0"/>
          <p:cNvSpPr/>
          <p:nvPr/>
        </p:nvSpPr>
        <p:spPr>
          <a:xfrm>
            <a:off x="8954786" y="1064000"/>
            <a:ext cx="26142" cy="591999"/>
          </a:xfrm>
          <a:prstGeom prst="rect">
            <a:avLst/>
          </a:prstGeom>
          <a:solidFill>
            <a:srgbClr val="E38B8B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Candle Body 0"/>
          <p:cNvSpPr/>
          <p:nvPr/>
        </p:nvSpPr>
        <p:spPr>
          <a:xfrm>
            <a:off x="8876358" y="1167600"/>
            <a:ext cx="182999" cy="414400"/>
          </a:xfrm>
          <a:prstGeom prst="rect">
            <a:avLst/>
          </a:prstGeom>
          <a:solidFill>
            <a:srgbClr val="E38B8B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ndle Wick 1"/>
          <p:cNvSpPr/>
          <p:nvPr/>
        </p:nvSpPr>
        <p:spPr>
          <a:xfrm>
            <a:off x="9390500" y="842000"/>
            <a:ext cx="26142" cy="562400"/>
          </a:xfrm>
          <a:prstGeom prst="rect">
            <a:avLst/>
          </a:prstGeom>
          <a:solidFill>
            <a:srgbClr val="7DAD8C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3" name="Candle Body 1"/>
          <p:cNvSpPr/>
          <p:nvPr/>
        </p:nvSpPr>
        <p:spPr>
          <a:xfrm>
            <a:off x="9312072" y="960400"/>
            <a:ext cx="182999" cy="325599"/>
          </a:xfrm>
          <a:prstGeom prst="rect">
            <a:avLst/>
          </a:prstGeom>
          <a:solidFill>
            <a:srgbClr val="7DAD8C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Candle Wick 2"/>
          <p:cNvSpPr/>
          <p:nvPr/>
        </p:nvSpPr>
        <p:spPr>
          <a:xfrm>
            <a:off x="9826214" y="990000"/>
            <a:ext cx="26142" cy="473599"/>
          </a:xfrm>
          <a:prstGeom prst="rect">
            <a:avLst/>
          </a:prstGeom>
          <a:solidFill>
            <a:srgbClr val="E38B8B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Candle Body 2"/>
          <p:cNvSpPr/>
          <p:nvPr/>
        </p:nvSpPr>
        <p:spPr>
          <a:xfrm>
            <a:off x="9747786" y="1064000"/>
            <a:ext cx="182999" cy="295999"/>
          </a:xfrm>
          <a:prstGeom prst="rect">
            <a:avLst/>
          </a:prstGeom>
          <a:solidFill>
            <a:srgbClr val="E38B8B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6" name="Candle Wick 3"/>
          <p:cNvSpPr/>
          <p:nvPr/>
        </p:nvSpPr>
        <p:spPr>
          <a:xfrm>
            <a:off x="10261928" y="575600"/>
            <a:ext cx="26142" cy="592000"/>
          </a:xfrm>
          <a:prstGeom prst="rect">
            <a:avLst/>
          </a:prstGeom>
          <a:solidFill>
            <a:srgbClr val="7DAD8C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Candle Body 3"/>
          <p:cNvSpPr/>
          <p:nvPr/>
        </p:nvSpPr>
        <p:spPr>
          <a:xfrm>
            <a:off x="10183500" y="694000"/>
            <a:ext cx="182999" cy="370000"/>
          </a:xfrm>
          <a:prstGeom prst="rect">
            <a:avLst/>
          </a:prstGeom>
          <a:solidFill>
            <a:srgbClr val="7DAD8C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Candle Wick 4"/>
          <p:cNvSpPr/>
          <p:nvPr/>
        </p:nvSpPr>
        <p:spPr>
          <a:xfrm>
            <a:off x="10697642" y="723600"/>
            <a:ext cx="26142" cy="488400"/>
          </a:xfrm>
          <a:prstGeom prst="rect">
            <a:avLst/>
          </a:prstGeom>
          <a:solidFill>
            <a:srgbClr val="E38B8B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9" name="Candle Body 4"/>
          <p:cNvSpPr/>
          <p:nvPr/>
        </p:nvSpPr>
        <p:spPr>
          <a:xfrm>
            <a:off x="10619214" y="812400"/>
            <a:ext cx="182999" cy="295999"/>
          </a:xfrm>
          <a:prstGeom prst="rect">
            <a:avLst/>
          </a:prstGeom>
          <a:solidFill>
            <a:srgbClr val="E38B8B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Candle Wick 5"/>
          <p:cNvSpPr/>
          <p:nvPr/>
        </p:nvSpPr>
        <p:spPr>
          <a:xfrm>
            <a:off x="11133356" y="368400"/>
            <a:ext cx="26142" cy="562400"/>
          </a:xfrm>
          <a:prstGeom prst="rect">
            <a:avLst/>
          </a:prstGeom>
          <a:solidFill>
            <a:srgbClr val="7DAD8C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Candle Body 5"/>
          <p:cNvSpPr/>
          <p:nvPr/>
        </p:nvSpPr>
        <p:spPr>
          <a:xfrm>
            <a:off x="11054928" y="457200"/>
            <a:ext cx="182999" cy="384800"/>
          </a:xfrm>
          <a:prstGeom prst="rect">
            <a:avLst/>
          </a:prstGeom>
          <a:solidFill>
            <a:srgbClr val="7DAD8C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Candle Wick 6"/>
          <p:cNvSpPr/>
          <p:nvPr/>
        </p:nvSpPr>
        <p:spPr>
          <a:xfrm>
            <a:off x="11569070" y="250000"/>
            <a:ext cx="26142" cy="503200"/>
          </a:xfrm>
          <a:prstGeom prst="rect">
            <a:avLst/>
          </a:prstGeom>
          <a:solidFill>
            <a:srgbClr val="7DAD8C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Candle Body 6"/>
          <p:cNvSpPr/>
          <p:nvPr/>
        </p:nvSpPr>
        <p:spPr>
          <a:xfrm>
            <a:off x="11490642" y="324000"/>
            <a:ext cx="182999" cy="340400"/>
          </a:xfrm>
          <a:prstGeom prst="rect">
            <a:avLst/>
          </a:prstGeom>
          <a:solidFill>
            <a:srgbClr val="7DAD8C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247</Words>
  <Application>Microsoft Office PowerPoint</Application>
  <PresentationFormat>Widescreen</PresentationFormat>
  <Paragraphs>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Afnan Shoukat</cp:lastModifiedBy>
  <cp:revision>8</cp:revision>
  <dcterms:created xsi:type="dcterms:W3CDTF">2026-07-30T07:36:33Z</dcterms:created>
  <dcterms:modified xsi:type="dcterms:W3CDTF">2026-07-31T09:02:10Z</dcterms:modified>
</cp:coreProperties>
</file>