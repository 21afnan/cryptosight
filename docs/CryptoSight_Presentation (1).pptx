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78013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3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3.png"/><Relationship Id="rId10" Type="http://schemas.openxmlformats.org/officeDocument/2006/relationships/image" Target="../media/image17.png"/><Relationship Id="rId4" Type="http://schemas.openxmlformats.org/officeDocument/2006/relationships/image" Target="../media/image14.png"/><Relationship Id="rId9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2.pn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4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9659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7DA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 TRADING · INTERNSHIP PROJECT 2026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CryptoSight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822960" y="370332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 Crypto Trading Platform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41248" y="4343400"/>
            <a:ext cx="457200" cy="41148"/>
          </a:xfrm>
          <a:prstGeom prst="rect">
            <a:avLst/>
          </a:prstGeom>
          <a:solidFill>
            <a:srgbClr val="7DAD8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59893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Afnan Shoukat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7DA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5E8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804672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CryptoSight?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institutional-grade quant platform for crypto markets.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2148840"/>
            <a:ext cx="3307080" cy="187452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/>
          <a:effectLst>
            <a:outerShdw blurRad="177800" dist="63500" dir="5400000" algn="bl" rotWithShape="0">
              <a:srgbClr val="1B2A21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15568" y="2441448"/>
            <a:ext cx="713232" cy="713232"/>
          </a:xfrm>
          <a:prstGeom prst="ellipse">
            <a:avLst/>
          </a:prstGeom>
          <a:solidFill>
            <a:srgbClr val="5E8B6E"/>
          </a:solidFill>
          <a:ln/>
          <a:effectLst>
            <a:outerShdw blurRad="127000" dist="38100" dir="5400000" algn="bl" rotWithShape="0">
              <a:srgbClr val="1B2A21">
                <a:alpha val="16000"/>
              </a:srgbClr>
            </a:outerShdw>
          </a:effectLst>
        </p:spPr>
      </p:sp>
      <p:pic>
        <p:nvPicPr>
          <p:cNvPr id="7" name="Image 0" descr="/home/claude/cryptosight_ppt/icons/database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6744" y="2612624"/>
            <a:ext cx="370881" cy="37088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78992" y="3319272"/>
            <a:ext cx="2795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B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Ingestion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4450080" y="2148840"/>
            <a:ext cx="3307080" cy="187452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/>
          <a:effectLst>
            <a:outerShdw blurRad="177800" dist="63500" dir="5400000" algn="bl" rotWithShape="0">
              <a:srgbClr val="1B2A21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42688" y="2441448"/>
            <a:ext cx="713232" cy="713232"/>
          </a:xfrm>
          <a:prstGeom prst="ellipse">
            <a:avLst/>
          </a:prstGeom>
          <a:solidFill>
            <a:srgbClr val="7DAD8C"/>
          </a:solidFill>
          <a:ln/>
          <a:effectLst>
            <a:outerShdw blurRad="127000" dist="38100" dir="5400000" algn="bl" rotWithShape="0">
              <a:srgbClr val="1B2A21">
                <a:alpha val="16000"/>
              </a:srgbClr>
            </a:outerShdw>
          </a:effectLst>
        </p:spPr>
      </p:sp>
      <p:pic>
        <p:nvPicPr>
          <p:cNvPr id="11" name="Image 1" descr="/home/claude/cryptosight_ppt/icons/chartline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3864" y="2612624"/>
            <a:ext cx="370881" cy="37088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06112" y="3319272"/>
            <a:ext cx="2795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B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158 Indicators</a:t>
            </a:r>
            <a:endParaRPr lang="en-US" sz="1550" dirty="0"/>
          </a:p>
        </p:txBody>
      </p:sp>
      <p:sp>
        <p:nvSpPr>
          <p:cNvPr id="13" name="Shape 9"/>
          <p:cNvSpPr/>
          <p:nvPr/>
        </p:nvSpPr>
        <p:spPr>
          <a:xfrm>
            <a:off x="8077200" y="2148840"/>
            <a:ext cx="3307080" cy="187452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/>
          <a:effectLst>
            <a:outerShdw blurRad="177800" dist="63500" dir="5400000" algn="bl" rotWithShape="0">
              <a:srgbClr val="1B2A21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369808" y="2441448"/>
            <a:ext cx="713232" cy="713232"/>
          </a:xfrm>
          <a:prstGeom prst="ellipse">
            <a:avLst/>
          </a:prstGeom>
          <a:solidFill>
            <a:srgbClr val="F59E0B"/>
          </a:solidFill>
          <a:ln/>
          <a:effectLst>
            <a:outerShdw blurRad="127000" dist="38100" dir="5400000" algn="bl" rotWithShape="0">
              <a:srgbClr val="1B2A21">
                <a:alpha val="16000"/>
              </a:srgbClr>
            </a:outerShdw>
          </a:effectLst>
        </p:spPr>
      </p:sp>
      <p:pic>
        <p:nvPicPr>
          <p:cNvPr id="15" name="Image 2" descr="/home/claude/cryptosight_ppt/icons/broadcast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40984" y="2612624"/>
            <a:ext cx="370881" cy="37088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333232" y="3319272"/>
            <a:ext cx="2795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B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Engine</a:t>
            </a:r>
            <a:endParaRPr lang="en-US" sz="1550" dirty="0"/>
          </a:p>
        </p:txBody>
      </p:sp>
      <p:sp>
        <p:nvSpPr>
          <p:cNvPr id="17" name="Shape 12"/>
          <p:cNvSpPr/>
          <p:nvPr/>
        </p:nvSpPr>
        <p:spPr>
          <a:xfrm>
            <a:off x="822960" y="4343400"/>
            <a:ext cx="3307080" cy="187452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/>
          <a:effectLst>
            <a:outerShdw blurRad="177800" dist="63500" dir="5400000" algn="bl" rotWithShape="0">
              <a:srgbClr val="1B2A21">
                <a:alpha val="10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1115568" y="4636008"/>
            <a:ext cx="713232" cy="713232"/>
          </a:xfrm>
          <a:prstGeom prst="ellipse">
            <a:avLst/>
          </a:prstGeom>
          <a:solidFill>
            <a:srgbClr val="2D4A38"/>
          </a:solidFill>
          <a:ln/>
          <a:effectLst>
            <a:outerShdw blurRad="127000" dist="38100" dir="5400000" algn="bl" rotWithShape="0">
              <a:srgbClr val="1B2A21">
                <a:alpha val="16000"/>
              </a:srgbClr>
            </a:outerShdw>
          </a:effectLst>
        </p:spPr>
      </p:sp>
      <p:pic>
        <p:nvPicPr>
          <p:cNvPr id="19" name="Image 3" descr="/home/claude/cryptosight_ppt/icons/brain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86744" y="4807184"/>
            <a:ext cx="370881" cy="370881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078992" y="5513832"/>
            <a:ext cx="2795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B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Backtesting &amp; ML</a:t>
            </a:r>
            <a:endParaRPr lang="en-US" sz="1550" dirty="0"/>
          </a:p>
        </p:txBody>
      </p:sp>
      <p:sp>
        <p:nvSpPr>
          <p:cNvPr id="21" name="Shape 15"/>
          <p:cNvSpPr/>
          <p:nvPr/>
        </p:nvSpPr>
        <p:spPr>
          <a:xfrm>
            <a:off x="4450080" y="4343400"/>
            <a:ext cx="3307080" cy="187452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/>
          <a:effectLst>
            <a:outerShdw blurRad="177800" dist="63500" dir="5400000" algn="bl" rotWithShape="0">
              <a:srgbClr val="1B2A21">
                <a:alpha val="10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4742688" y="4636008"/>
            <a:ext cx="713232" cy="713232"/>
          </a:xfrm>
          <a:prstGeom prst="ellipse">
            <a:avLst/>
          </a:prstGeom>
          <a:solidFill>
            <a:srgbClr val="22C55E"/>
          </a:solidFill>
          <a:ln/>
          <a:effectLst>
            <a:outerShdw blurRad="127000" dist="38100" dir="5400000" algn="bl" rotWithShape="0">
              <a:srgbClr val="1B2A21">
                <a:alpha val="16000"/>
              </a:srgbClr>
            </a:outerShdw>
          </a:effectLst>
        </p:spPr>
      </p:sp>
      <p:pic>
        <p:nvPicPr>
          <p:cNvPr id="23" name="Image 4" descr="/home/claude/cryptosight_ppt/icons/bolt_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13864" y="4807184"/>
            <a:ext cx="370881" cy="370881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4706112" y="5513832"/>
            <a:ext cx="2795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B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Execution</a:t>
            </a:r>
            <a:endParaRPr lang="en-US" sz="1550" dirty="0"/>
          </a:p>
        </p:txBody>
      </p:sp>
      <p:sp>
        <p:nvSpPr>
          <p:cNvPr id="25" name="Shape 18"/>
          <p:cNvSpPr/>
          <p:nvPr/>
        </p:nvSpPr>
        <p:spPr>
          <a:xfrm>
            <a:off x="8077200" y="4343400"/>
            <a:ext cx="3307080" cy="187452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/>
          <a:effectLst>
            <a:outerShdw blurRad="177800" dist="63500" dir="5400000" algn="bl" rotWithShape="0">
              <a:srgbClr val="1B2A21">
                <a:alpha val="10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8369808" y="4636008"/>
            <a:ext cx="713232" cy="713232"/>
          </a:xfrm>
          <a:prstGeom prst="ellipse">
            <a:avLst/>
          </a:prstGeom>
          <a:solidFill>
            <a:srgbClr val="EE5D5D"/>
          </a:solidFill>
          <a:ln/>
          <a:effectLst>
            <a:outerShdw blurRad="127000" dist="38100" dir="5400000" algn="bl" rotWithShape="0">
              <a:srgbClr val="1B2A21">
                <a:alpha val="16000"/>
              </a:srgbClr>
            </a:outerShdw>
          </a:effectLst>
        </p:spPr>
      </p:sp>
      <p:pic>
        <p:nvPicPr>
          <p:cNvPr id="27" name="Image 5" descr="/home/claude/cryptosight_ppt/icons/smile_FFFFFF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40984" y="4807184"/>
            <a:ext cx="370881" cy="370881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8333232" y="5513832"/>
            <a:ext cx="2795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B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AI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5E8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804672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1874520"/>
            <a:ext cx="5097780" cy="4114800"/>
          </a:xfrm>
          <a:prstGeom prst="roundRect">
            <a:avLst>
              <a:gd name="adj" fmla="val 3556"/>
            </a:avLst>
          </a:prstGeom>
          <a:solidFill>
            <a:srgbClr val="FBEEEE"/>
          </a:solidFill>
          <a:ln/>
        </p:spPr>
      </p:sp>
      <p:sp>
        <p:nvSpPr>
          <p:cNvPr id="5" name="Shape 3"/>
          <p:cNvSpPr/>
          <p:nvPr/>
        </p:nvSpPr>
        <p:spPr>
          <a:xfrm>
            <a:off x="1188720" y="2240280"/>
            <a:ext cx="658368" cy="658368"/>
          </a:xfrm>
          <a:prstGeom prst="ellipse">
            <a:avLst/>
          </a:prstGeom>
          <a:solidFill>
            <a:srgbClr val="EE5D5D"/>
          </a:solidFill>
          <a:ln/>
          <a:effectLst>
            <a:outerShdw blurRad="127000" dist="38100" dir="5400000" algn="bl" rotWithShape="0">
              <a:srgbClr val="1B2A21">
                <a:alpha val="16000"/>
              </a:srgbClr>
            </a:outerShdw>
          </a:effectLst>
        </p:spPr>
      </p:sp>
      <p:pic>
        <p:nvPicPr>
          <p:cNvPr id="6" name="Image 0" descr="/home/claude/cryptosight_ppt/icons/clock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6728" y="2398288"/>
            <a:ext cx="342351" cy="34235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3044952"/>
            <a:ext cx="43662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E5D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1188720" y="3474720"/>
            <a:ext cx="457200" cy="457200"/>
          </a:xfrm>
          <a:prstGeom prst="ellipse">
            <a:avLst/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B2A21">
                <a:alpha val="16000"/>
              </a:srgbClr>
            </a:outerShdw>
          </a:effectLst>
        </p:spPr>
      </p:sp>
      <p:pic>
        <p:nvPicPr>
          <p:cNvPr id="9" name="Image 1" descr="/home/claude/cryptosight_ppt/icons/xcircle_EE5D5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8448" y="3584448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783080" y="3419856"/>
            <a:ext cx="37719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watch charts 24/7</a:t>
            </a:r>
            <a:endParaRPr lang="en-US" sz="1450" dirty="0"/>
          </a:p>
        </p:txBody>
      </p:sp>
      <p:sp>
        <p:nvSpPr>
          <p:cNvPr id="11" name="Shape 7"/>
          <p:cNvSpPr/>
          <p:nvPr/>
        </p:nvSpPr>
        <p:spPr>
          <a:xfrm>
            <a:off x="1188720" y="4251960"/>
            <a:ext cx="457200" cy="457200"/>
          </a:xfrm>
          <a:prstGeom prst="ellipse">
            <a:avLst/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B2A21">
                <a:alpha val="16000"/>
              </a:srgbClr>
            </a:outerShdw>
          </a:effectLst>
        </p:spPr>
      </p:sp>
      <p:pic>
        <p:nvPicPr>
          <p:cNvPr id="12" name="Image 2" descr="/home/claude/cryptosight_ppt/icons/xcircle_EE5D5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8448" y="4361688"/>
            <a:ext cx="237744" cy="23774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83080" y="4197096"/>
            <a:ext cx="37719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many indicators to track manually</a:t>
            </a:r>
            <a:endParaRPr lang="en-US" sz="1450" dirty="0"/>
          </a:p>
        </p:txBody>
      </p:sp>
      <p:sp>
        <p:nvSpPr>
          <p:cNvPr id="14" name="Shape 9"/>
          <p:cNvSpPr/>
          <p:nvPr/>
        </p:nvSpPr>
        <p:spPr>
          <a:xfrm>
            <a:off x="1188720" y="5029200"/>
            <a:ext cx="457200" cy="457200"/>
          </a:xfrm>
          <a:prstGeom prst="ellipse">
            <a:avLst/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B2A21">
                <a:alpha val="16000"/>
              </a:srgbClr>
            </a:outerShdw>
          </a:effectLst>
        </p:spPr>
      </p:sp>
      <p:pic>
        <p:nvPicPr>
          <p:cNvPr id="15" name="Image 3" descr="/home/claude/cryptosight_ppt/icons/xcircle_EE5D5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8448" y="5138928"/>
            <a:ext cx="237744" cy="23774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783080" y="4974336"/>
            <a:ext cx="37719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missed = opportunities lost</a:t>
            </a:r>
            <a:endParaRPr lang="en-US" sz="1450" dirty="0"/>
          </a:p>
        </p:txBody>
      </p:sp>
      <p:sp>
        <p:nvSpPr>
          <p:cNvPr id="17" name="Shape 11"/>
          <p:cNvSpPr/>
          <p:nvPr/>
        </p:nvSpPr>
        <p:spPr>
          <a:xfrm>
            <a:off x="6286500" y="1874520"/>
            <a:ext cx="5097780" cy="4114800"/>
          </a:xfrm>
          <a:prstGeom prst="roundRect">
            <a:avLst>
              <a:gd name="adj" fmla="val 3556"/>
            </a:avLst>
          </a:prstGeom>
          <a:solidFill>
            <a:srgbClr val="2D4A38"/>
          </a:solidFill>
          <a:ln/>
          <a:effectLst>
            <a:outerShdw blurRad="254000" dist="101600" dir="5400000" algn="bl" rotWithShape="0">
              <a:srgbClr val="1B2A21">
                <a:alpha val="2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6652260" y="2240280"/>
            <a:ext cx="658368" cy="658368"/>
          </a:xfrm>
          <a:prstGeom prst="ellipse">
            <a:avLst/>
          </a:prstGeom>
          <a:solidFill>
            <a:srgbClr val="7DAD8C"/>
          </a:solidFill>
          <a:ln/>
          <a:effectLst>
            <a:outerShdw blurRad="127000" dist="38100" dir="5400000" algn="bl" rotWithShape="0">
              <a:srgbClr val="1B2A21">
                <a:alpha val="16000"/>
              </a:srgbClr>
            </a:outerShdw>
          </a:effectLst>
        </p:spPr>
      </p:sp>
      <p:pic>
        <p:nvPicPr>
          <p:cNvPr id="19" name="Image 4" descr="/home/claude/cryptosight_ppt/icons/eye_2D4A3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10268" y="2398288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652260" y="3044952"/>
            <a:ext cx="43662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7DA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CRYPTOSIGHT</a:t>
            </a:r>
            <a:endParaRPr lang="en-US" sz="1100" dirty="0"/>
          </a:p>
        </p:txBody>
      </p:sp>
      <p:sp>
        <p:nvSpPr>
          <p:cNvPr id="21" name="Shape 14"/>
          <p:cNvSpPr/>
          <p:nvPr/>
        </p:nvSpPr>
        <p:spPr>
          <a:xfrm>
            <a:off x="6652260" y="3474720"/>
            <a:ext cx="457200" cy="457200"/>
          </a:xfrm>
          <a:prstGeom prst="ellipse">
            <a:avLst/>
          </a:prstGeom>
          <a:solidFill>
            <a:srgbClr val="7DAD8C"/>
          </a:solidFill>
          <a:ln/>
          <a:effectLst>
            <a:outerShdw blurRad="127000" dist="38100" dir="5400000" algn="bl" rotWithShape="0">
              <a:srgbClr val="1B2A21">
                <a:alpha val="16000"/>
              </a:srgbClr>
            </a:outerShdw>
          </a:effectLst>
        </p:spPr>
      </p:sp>
      <p:pic>
        <p:nvPicPr>
          <p:cNvPr id="22" name="Image 5" descr="/home/claude/cryptosight_ppt/icons/check_2D4A3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61988" y="3584448"/>
            <a:ext cx="237744" cy="237744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7246620" y="3419856"/>
            <a:ext cx="37719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Watches the market 24/7</a:t>
            </a:r>
            <a:endParaRPr lang="en-US" sz="1450" dirty="0"/>
          </a:p>
        </p:txBody>
      </p:sp>
      <p:sp>
        <p:nvSpPr>
          <p:cNvPr id="24" name="Shape 16"/>
          <p:cNvSpPr/>
          <p:nvPr/>
        </p:nvSpPr>
        <p:spPr>
          <a:xfrm>
            <a:off x="6652260" y="4251960"/>
            <a:ext cx="457200" cy="457200"/>
          </a:xfrm>
          <a:prstGeom prst="ellipse">
            <a:avLst/>
          </a:prstGeom>
          <a:solidFill>
            <a:srgbClr val="7DAD8C"/>
          </a:solidFill>
          <a:ln/>
          <a:effectLst>
            <a:outerShdw blurRad="127000" dist="38100" dir="5400000" algn="bl" rotWithShape="0">
              <a:srgbClr val="1B2A21">
                <a:alpha val="16000"/>
              </a:srgbClr>
            </a:outerShdw>
          </a:effectLst>
        </p:spPr>
      </p:sp>
      <p:pic>
        <p:nvPicPr>
          <p:cNvPr id="25" name="Image 6" descr="/home/claude/cryptosight_ppt/icons/check_2D4A3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61988" y="4361688"/>
            <a:ext cx="237744" cy="237744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7246620" y="4197096"/>
            <a:ext cx="37719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Auto-checks every signal &amp; indicator</a:t>
            </a:r>
            <a:endParaRPr lang="en-US" sz="1450" dirty="0"/>
          </a:p>
        </p:txBody>
      </p:sp>
      <p:sp>
        <p:nvSpPr>
          <p:cNvPr id="27" name="Shape 18"/>
          <p:cNvSpPr/>
          <p:nvPr/>
        </p:nvSpPr>
        <p:spPr>
          <a:xfrm>
            <a:off x="6652260" y="5029200"/>
            <a:ext cx="457200" cy="457200"/>
          </a:xfrm>
          <a:prstGeom prst="ellipse">
            <a:avLst/>
          </a:prstGeom>
          <a:solidFill>
            <a:srgbClr val="7DAD8C"/>
          </a:solidFill>
          <a:ln/>
          <a:effectLst>
            <a:outerShdw blurRad="127000" dist="38100" dir="5400000" algn="bl" rotWithShape="0">
              <a:srgbClr val="1B2A21">
                <a:alpha val="16000"/>
              </a:srgbClr>
            </a:outerShdw>
          </a:effectLst>
        </p:spPr>
      </p:sp>
      <p:pic>
        <p:nvPicPr>
          <p:cNvPr id="28" name="Image 7" descr="/home/claude/cryptosight_ppt/icons/check_2D4A38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61988" y="5138928"/>
            <a:ext cx="237744" cy="237744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7246620" y="4974336"/>
            <a:ext cx="37719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Tests, executes, reports — one dashboard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5E8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74980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3400" dirty="0"/>
          </a:p>
        </p:txBody>
      </p:sp>
      <p:pic>
        <p:nvPicPr>
          <p:cNvPr id="4" name="Image 0" descr="/home/claude/cryptosight_ppt/bg/pipeline_connecto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17220" y="2994660"/>
            <a:ext cx="868680" cy="868680"/>
          </a:xfrm>
          <a:prstGeom prst="ellipse">
            <a:avLst/>
          </a:prstGeom>
          <a:solidFill>
            <a:srgbClr val="7DAD8C"/>
          </a:solidFill>
          <a:ln/>
          <a:effectLst>
            <a:outerShdw blurRad="127000" dist="38100" dir="5400000" algn="bl" rotWithShape="0">
              <a:srgbClr val="1B2A21">
                <a:alpha val="16000"/>
              </a:srgbClr>
            </a:outerShdw>
          </a:effectLst>
        </p:spPr>
      </p:sp>
      <p:pic>
        <p:nvPicPr>
          <p:cNvPr id="6" name="Image 1" descr="/home/claude/cryptosight_ppt/icons/database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5703" y="3203143"/>
            <a:ext cx="451714" cy="45171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82880" y="3973068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B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125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B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50" dirty="0"/>
          </a:p>
        </p:txBody>
      </p:sp>
      <p:sp>
        <p:nvSpPr>
          <p:cNvPr id="8" name="Shape 4"/>
          <p:cNvSpPr/>
          <p:nvPr/>
        </p:nvSpPr>
        <p:spPr>
          <a:xfrm>
            <a:off x="2628900" y="2263140"/>
            <a:ext cx="868680" cy="868680"/>
          </a:xfrm>
          <a:prstGeom prst="ellipse">
            <a:avLst/>
          </a:prstGeom>
          <a:solidFill>
            <a:srgbClr val="5E8B6E"/>
          </a:solidFill>
          <a:ln/>
          <a:effectLst>
            <a:outerShdw blurRad="127000" dist="38100" dir="5400000" algn="bl" rotWithShape="0">
              <a:srgbClr val="1B2A21">
                <a:alpha val="16000"/>
              </a:srgbClr>
            </a:outerShdw>
          </a:effectLst>
        </p:spPr>
      </p:sp>
      <p:pic>
        <p:nvPicPr>
          <p:cNvPr id="9" name="Image 2" descr="/home/claude/cryptosight_ppt/icons/chartbar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37383" y="2471623"/>
            <a:ext cx="451714" cy="45171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194560" y="3241548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B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Indicators</a:t>
            </a:r>
            <a:endParaRPr lang="en-US" sz="125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B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Signals</a:t>
            </a:r>
            <a:endParaRPr lang="en-US" sz="1250" dirty="0"/>
          </a:p>
        </p:txBody>
      </p:sp>
      <p:sp>
        <p:nvSpPr>
          <p:cNvPr id="11" name="Shape 6"/>
          <p:cNvSpPr/>
          <p:nvPr/>
        </p:nvSpPr>
        <p:spPr>
          <a:xfrm>
            <a:off x="4640580" y="3543300"/>
            <a:ext cx="868680" cy="868680"/>
          </a:xfrm>
          <a:prstGeom prst="ellipse">
            <a:avLst/>
          </a:prstGeom>
          <a:solidFill>
            <a:srgbClr val="4A7A5A"/>
          </a:solidFill>
          <a:ln/>
          <a:effectLst>
            <a:outerShdw blurRad="127000" dist="38100" dir="5400000" algn="bl" rotWithShape="0">
              <a:srgbClr val="1B2A21">
                <a:alpha val="16000"/>
              </a:srgbClr>
            </a:outerShdw>
          </a:effectLst>
        </p:spPr>
      </p:sp>
      <p:pic>
        <p:nvPicPr>
          <p:cNvPr id="12" name="Image 3" descr="/home/claude/cryptosight_ppt/icons/brain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49063" y="3751783"/>
            <a:ext cx="451714" cy="45171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206240" y="4521708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B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</a:t>
            </a:r>
            <a:endParaRPr lang="en-US" sz="125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B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ML</a:t>
            </a:r>
            <a:endParaRPr lang="en-US" sz="1250" dirty="0"/>
          </a:p>
        </p:txBody>
      </p:sp>
      <p:sp>
        <p:nvSpPr>
          <p:cNvPr id="14" name="Shape 8"/>
          <p:cNvSpPr/>
          <p:nvPr/>
        </p:nvSpPr>
        <p:spPr>
          <a:xfrm>
            <a:off x="6652260" y="2263140"/>
            <a:ext cx="868680" cy="868680"/>
          </a:xfrm>
          <a:prstGeom prst="ellipse">
            <a:avLst/>
          </a:prstGeom>
          <a:solidFill>
            <a:srgbClr val="F59E0B"/>
          </a:solidFill>
          <a:ln/>
          <a:effectLst>
            <a:outerShdw blurRad="127000" dist="38100" dir="5400000" algn="bl" rotWithShape="0">
              <a:srgbClr val="1B2A21">
                <a:alpha val="16000"/>
              </a:srgbClr>
            </a:outerShdw>
          </a:effectLst>
        </p:spPr>
      </p:sp>
      <p:pic>
        <p:nvPicPr>
          <p:cNvPr id="15" name="Image 4" descr="/home/claude/cryptosight_ppt/icons/bolt_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60743" y="2471623"/>
            <a:ext cx="451714" cy="451714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217920" y="3241548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B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25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B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</a:t>
            </a:r>
            <a:endParaRPr lang="en-US" sz="1250" dirty="0"/>
          </a:p>
        </p:txBody>
      </p:sp>
      <p:sp>
        <p:nvSpPr>
          <p:cNvPr id="17" name="Shape 10"/>
          <p:cNvSpPr/>
          <p:nvPr/>
        </p:nvSpPr>
        <p:spPr>
          <a:xfrm>
            <a:off x="8663940" y="3543300"/>
            <a:ext cx="868680" cy="868680"/>
          </a:xfrm>
          <a:prstGeom prst="ellipse">
            <a:avLst/>
          </a:prstGeom>
          <a:solidFill>
            <a:srgbClr val="4A7A5A"/>
          </a:solidFill>
          <a:ln/>
          <a:effectLst>
            <a:outerShdw blurRad="127000" dist="38100" dir="5400000" algn="bl" rotWithShape="0">
              <a:srgbClr val="1B2A21">
                <a:alpha val="16000"/>
              </a:srgbClr>
            </a:outerShdw>
          </a:effectLst>
        </p:spPr>
      </p:sp>
      <p:pic>
        <p:nvPicPr>
          <p:cNvPr id="18" name="Image 5" descr="/home/claude/cryptosight_ppt/icons/server_FFFFFF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72423" y="3751783"/>
            <a:ext cx="451714" cy="451714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8229600" y="4521708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B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250" dirty="0"/>
          </a:p>
        </p:txBody>
      </p:sp>
      <p:sp>
        <p:nvSpPr>
          <p:cNvPr id="20" name="Shape 12"/>
          <p:cNvSpPr/>
          <p:nvPr/>
        </p:nvSpPr>
        <p:spPr>
          <a:xfrm>
            <a:off x="10675620" y="2994660"/>
            <a:ext cx="868680" cy="868680"/>
          </a:xfrm>
          <a:prstGeom prst="ellipse">
            <a:avLst/>
          </a:prstGeom>
          <a:solidFill>
            <a:srgbClr val="2D4A38"/>
          </a:solidFill>
          <a:ln/>
          <a:effectLst>
            <a:outerShdw blurRad="127000" dist="38100" dir="5400000" algn="bl" rotWithShape="0">
              <a:srgbClr val="1B2A21">
                <a:alpha val="16000"/>
              </a:srgbClr>
            </a:outerShdw>
          </a:effectLst>
        </p:spPr>
      </p:sp>
      <p:pic>
        <p:nvPicPr>
          <p:cNvPr id="21" name="Image 6" descr="/home/claude/cryptosight_ppt/icons/desktop_FFFFFF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884103" y="3203143"/>
            <a:ext cx="451714" cy="451714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10241280" y="3973068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B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5E8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JOURNEY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804672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Learned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gained building CryptoSight from scratch.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2148840"/>
            <a:ext cx="3307080" cy="187452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/>
          <a:effectLst>
            <a:outerShdw blurRad="177800" dist="63500" dir="5400000" algn="bl" rotWithShape="0">
              <a:srgbClr val="1B2A21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15568" y="2441448"/>
            <a:ext cx="658368" cy="658368"/>
          </a:xfrm>
          <a:prstGeom prst="ellipse">
            <a:avLst/>
          </a:prstGeom>
          <a:solidFill>
            <a:srgbClr val="5E8B6E"/>
          </a:solidFill>
          <a:ln/>
          <a:effectLst>
            <a:outerShdw blurRad="127000" dist="38100" dir="5400000" algn="bl" rotWithShape="0">
              <a:srgbClr val="1B2A21">
                <a:alpha val="16000"/>
              </a:srgbClr>
            </a:outerShdw>
          </a:effectLst>
        </p:spPr>
      </p:sp>
      <p:pic>
        <p:nvPicPr>
          <p:cNvPr id="7" name="Image 0" descr="/home/claude/cryptosight_ppt/icons/database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3576" y="2599456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78992" y="3227832"/>
            <a:ext cx="2795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B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078992" y="3538728"/>
            <a:ext cx="2795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reliable market data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450080" y="2148840"/>
            <a:ext cx="3307080" cy="187452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/>
          <a:effectLst>
            <a:outerShdw blurRad="177800" dist="63500" dir="5400000" algn="bl" rotWithShape="0">
              <a:srgbClr val="1B2A21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42688" y="2441448"/>
            <a:ext cx="658368" cy="658368"/>
          </a:xfrm>
          <a:prstGeom prst="ellipse">
            <a:avLst/>
          </a:prstGeom>
          <a:solidFill>
            <a:srgbClr val="2D4A38"/>
          </a:solidFill>
          <a:ln/>
          <a:effectLst>
            <a:outerShdw blurRad="127000" dist="38100" dir="5400000" algn="bl" rotWithShape="0">
              <a:srgbClr val="1B2A21">
                <a:alpha val="16000"/>
              </a:srgbClr>
            </a:outerShdw>
          </a:effectLst>
        </p:spPr>
      </p:sp>
      <p:pic>
        <p:nvPicPr>
          <p:cNvPr id="12" name="Image 1" descr="/home/claude/cryptosight_ppt/icons/check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00696" y="2599456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06112" y="3227832"/>
            <a:ext cx="2795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B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Future Peeking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4706112" y="3538728"/>
            <a:ext cx="2795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Backtests use only past data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8077200" y="2148840"/>
            <a:ext cx="3307080" cy="187452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/>
          <a:effectLst>
            <a:outerShdw blurRad="177800" dist="63500" dir="5400000" algn="bl" rotWithShape="0">
              <a:srgbClr val="1B2A21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369808" y="2441448"/>
            <a:ext cx="658368" cy="658368"/>
          </a:xfrm>
          <a:prstGeom prst="ellipse">
            <a:avLst/>
          </a:prstGeom>
          <a:solidFill>
            <a:srgbClr val="4A7A5A"/>
          </a:solidFill>
          <a:ln/>
          <a:effectLst>
            <a:outerShdw blurRad="127000" dist="38100" dir="5400000" algn="bl" rotWithShape="0">
              <a:srgbClr val="1B2A21">
                <a:alpha val="16000"/>
              </a:srgbClr>
            </a:outerShdw>
          </a:effectLst>
        </p:spPr>
      </p:sp>
      <p:pic>
        <p:nvPicPr>
          <p:cNvPr id="17" name="Image 2" descr="/home/claude/cryptosight_ppt/icons/brain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27816" y="2599456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33232" y="3227832"/>
            <a:ext cx="2795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B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Pipeline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8333232" y="3538728"/>
            <a:ext cx="2795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features to predictions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822960" y="4343400"/>
            <a:ext cx="3307080" cy="187452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/>
          <a:effectLst>
            <a:outerShdw blurRad="177800" dist="63500" dir="5400000" algn="bl" rotWithShape="0">
              <a:srgbClr val="1B2A21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1115568" y="4636008"/>
            <a:ext cx="658368" cy="658368"/>
          </a:xfrm>
          <a:prstGeom prst="ellipse">
            <a:avLst/>
          </a:prstGeom>
          <a:solidFill>
            <a:srgbClr val="7DAD8C"/>
          </a:solidFill>
          <a:ln/>
          <a:effectLst>
            <a:outerShdw blurRad="127000" dist="38100" dir="5400000" algn="bl" rotWithShape="0">
              <a:srgbClr val="1B2A21">
                <a:alpha val="16000"/>
              </a:srgbClr>
            </a:outerShdw>
          </a:effectLst>
        </p:spPr>
      </p:sp>
      <p:pic>
        <p:nvPicPr>
          <p:cNvPr id="22" name="Image 3" descr="/home/claude/cryptosight_ppt/icons/chartbar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3576" y="4794016"/>
            <a:ext cx="342351" cy="342351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078992" y="5422392"/>
            <a:ext cx="2795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B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59+ Risk Metrics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1078992" y="5733288"/>
            <a:ext cx="2795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Sharpe, drawdown &amp; more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4450080" y="4343400"/>
            <a:ext cx="3307080" cy="187452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/>
          <a:effectLst>
            <a:outerShdw blurRad="177800" dist="63500" dir="5400000" algn="bl" rotWithShape="0">
              <a:srgbClr val="1B2A21">
                <a:alpha val="1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742688" y="4636008"/>
            <a:ext cx="658368" cy="658368"/>
          </a:xfrm>
          <a:prstGeom prst="ellipse">
            <a:avLst/>
          </a:prstGeom>
          <a:solidFill>
            <a:srgbClr val="F59E0B"/>
          </a:solidFill>
          <a:ln/>
          <a:effectLst>
            <a:outerShdw blurRad="127000" dist="38100" dir="5400000" algn="bl" rotWithShape="0">
              <a:srgbClr val="1B2A21">
                <a:alpha val="16000"/>
              </a:srgbClr>
            </a:outerShdw>
          </a:effectLst>
        </p:spPr>
      </p:sp>
      <p:pic>
        <p:nvPicPr>
          <p:cNvPr id="27" name="Image 4" descr="/home/claude/cryptosight_ppt/icons/smile_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00696" y="4794016"/>
            <a:ext cx="342351" cy="342351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706112" y="5422392"/>
            <a:ext cx="2795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B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AI</a:t>
            </a:r>
            <a:endParaRPr lang="en-US" sz="1450" dirty="0"/>
          </a:p>
        </p:txBody>
      </p:sp>
      <p:sp>
        <p:nvSpPr>
          <p:cNvPr id="29" name="Text 22"/>
          <p:cNvSpPr/>
          <p:nvPr/>
        </p:nvSpPr>
        <p:spPr>
          <a:xfrm>
            <a:off x="4706112" y="5733288"/>
            <a:ext cx="2795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market mood from Reddit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8077200" y="4343400"/>
            <a:ext cx="3307080" cy="187452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/>
          <a:effectLst>
            <a:outerShdw blurRad="177800" dist="63500" dir="5400000" algn="bl" rotWithShape="0">
              <a:srgbClr val="1B2A21">
                <a:alpha val="10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8369808" y="4636008"/>
            <a:ext cx="658368" cy="658368"/>
          </a:xfrm>
          <a:prstGeom prst="ellipse">
            <a:avLst/>
          </a:prstGeom>
          <a:solidFill>
            <a:srgbClr val="22C55E"/>
          </a:solidFill>
          <a:ln/>
          <a:effectLst>
            <a:outerShdw blurRad="127000" dist="38100" dir="5400000" algn="bl" rotWithShape="0">
              <a:srgbClr val="1B2A21">
                <a:alpha val="16000"/>
              </a:srgbClr>
            </a:outerShdw>
          </a:effectLst>
        </p:spPr>
      </p:sp>
      <p:pic>
        <p:nvPicPr>
          <p:cNvPr id="32" name="Image 5" descr="/home/claude/cryptosight_ppt/icons/bolt_FFFFFF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27816" y="4794016"/>
            <a:ext cx="342351" cy="342351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333232" y="5422392"/>
            <a:ext cx="2795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B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Trading</a:t>
            </a:r>
            <a:endParaRPr lang="en-US" sz="1450" dirty="0"/>
          </a:p>
        </p:txBody>
      </p:sp>
      <p:sp>
        <p:nvSpPr>
          <p:cNvPr id="34" name="Text 26"/>
          <p:cNvSpPr/>
          <p:nvPr/>
        </p:nvSpPr>
        <p:spPr>
          <a:xfrm>
            <a:off x="8333232" y="5733288"/>
            <a:ext cx="2795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to a real exchange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5E8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VISION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804672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Can Add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ideas to make CryptoSight even smarter.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2148840"/>
            <a:ext cx="5097780" cy="1965960"/>
          </a:xfrm>
          <a:prstGeom prst="roundRect">
            <a:avLst>
              <a:gd name="adj" fmla="val 6512"/>
            </a:avLst>
          </a:prstGeom>
          <a:solidFill>
            <a:srgbClr val="FFFFFF"/>
          </a:solidFill>
          <a:ln/>
          <a:effectLst>
            <a:outerShdw blurRad="177800" dist="63500" dir="5400000" algn="bl" rotWithShape="0">
              <a:srgbClr val="1B2A21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15568" y="2441448"/>
            <a:ext cx="658368" cy="658368"/>
          </a:xfrm>
          <a:prstGeom prst="ellipse">
            <a:avLst/>
          </a:prstGeom>
          <a:solidFill>
            <a:srgbClr val="5E8B6E"/>
          </a:solidFill>
          <a:ln/>
          <a:effectLst>
            <a:outerShdw blurRad="127000" dist="38100" dir="5400000" algn="bl" rotWithShape="0">
              <a:srgbClr val="1B2A21">
                <a:alpha val="16000"/>
              </a:srgbClr>
            </a:outerShdw>
          </a:effectLst>
        </p:spPr>
      </p:sp>
      <p:pic>
        <p:nvPicPr>
          <p:cNvPr id="7" name="Image 0" descr="/home/claude/cryptosight_ppt/icons/robot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3576" y="2599456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920240" y="2496312"/>
            <a:ext cx="37261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5E8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ENHANCEMENT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1920240" y="2752344"/>
            <a:ext cx="37261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B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Strategy Copilot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115568" y="3319272"/>
            <a:ext cx="45125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strategies by typing in plain English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286500" y="2148840"/>
            <a:ext cx="5097780" cy="1965960"/>
          </a:xfrm>
          <a:prstGeom prst="roundRect">
            <a:avLst>
              <a:gd name="adj" fmla="val 6512"/>
            </a:avLst>
          </a:prstGeom>
          <a:solidFill>
            <a:srgbClr val="FFFFFF"/>
          </a:solidFill>
          <a:ln/>
          <a:effectLst>
            <a:outerShdw blurRad="177800" dist="63500" dir="5400000" algn="bl" rotWithShape="0">
              <a:srgbClr val="1B2A21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579108" y="2441448"/>
            <a:ext cx="658368" cy="658368"/>
          </a:xfrm>
          <a:prstGeom prst="ellipse">
            <a:avLst/>
          </a:prstGeom>
          <a:solidFill>
            <a:srgbClr val="2D4A38"/>
          </a:solidFill>
          <a:ln/>
          <a:effectLst>
            <a:outerShdw blurRad="127000" dist="38100" dir="5400000" algn="bl" rotWithShape="0">
              <a:srgbClr val="1B2A21">
                <a:alpha val="16000"/>
              </a:srgbClr>
            </a:outerShdw>
          </a:effectLst>
        </p:spPr>
      </p:sp>
      <p:pic>
        <p:nvPicPr>
          <p:cNvPr id="13" name="Image 1" descr="/home/claude/cryptosight_ppt/icons/chartline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7116" y="2599456"/>
            <a:ext cx="342351" cy="34235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383780" y="2496312"/>
            <a:ext cx="37261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5E8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ENHANCEMENT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7383780" y="2752344"/>
            <a:ext cx="37261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B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Market Filter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6579108" y="3319272"/>
            <a:ext cx="45125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Spots bad markets and pauses trading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822960" y="4480560"/>
            <a:ext cx="5097780" cy="1965960"/>
          </a:xfrm>
          <a:prstGeom prst="roundRect">
            <a:avLst>
              <a:gd name="adj" fmla="val 6512"/>
            </a:avLst>
          </a:prstGeom>
          <a:solidFill>
            <a:srgbClr val="FFFFFF"/>
          </a:solidFill>
          <a:ln/>
          <a:effectLst>
            <a:outerShdw blurRad="177800" dist="63500" dir="5400000" algn="bl" rotWithShape="0">
              <a:srgbClr val="1B2A21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1115568" y="4773168"/>
            <a:ext cx="658368" cy="658368"/>
          </a:xfrm>
          <a:prstGeom prst="ellipse">
            <a:avLst/>
          </a:prstGeom>
          <a:solidFill>
            <a:srgbClr val="4A7A5A"/>
          </a:solidFill>
          <a:ln/>
          <a:effectLst>
            <a:outerShdw blurRad="127000" dist="38100" dir="5400000" algn="bl" rotWithShape="0">
              <a:srgbClr val="1B2A21">
                <a:alpha val="16000"/>
              </a:srgbClr>
            </a:outerShdw>
          </a:effectLst>
        </p:spPr>
      </p:sp>
      <p:pic>
        <p:nvPicPr>
          <p:cNvPr id="19" name="Image 2" descr="/home/claude/cryptosight_ppt/icons/chartbar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3576" y="4931176"/>
            <a:ext cx="342351" cy="342351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920240" y="4828032"/>
            <a:ext cx="37261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5E8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ENHANCEMENT</a:t>
            </a:r>
            <a:endParaRPr lang="en-US" sz="950" dirty="0"/>
          </a:p>
        </p:txBody>
      </p:sp>
      <p:sp>
        <p:nvSpPr>
          <p:cNvPr id="21" name="Text 16"/>
          <p:cNvSpPr/>
          <p:nvPr/>
        </p:nvSpPr>
        <p:spPr>
          <a:xfrm>
            <a:off x="1920240" y="5084064"/>
            <a:ext cx="37261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B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Ranker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1115568" y="5650992"/>
            <a:ext cx="45125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Ranks trades by chance of winning</a:t>
            </a:r>
            <a:endParaRPr lang="en-US" sz="1250" dirty="0"/>
          </a:p>
        </p:txBody>
      </p:sp>
      <p:sp>
        <p:nvSpPr>
          <p:cNvPr id="23" name="Shape 18"/>
          <p:cNvSpPr/>
          <p:nvPr/>
        </p:nvSpPr>
        <p:spPr>
          <a:xfrm>
            <a:off x="6286500" y="4480560"/>
            <a:ext cx="5097780" cy="1965960"/>
          </a:xfrm>
          <a:prstGeom prst="roundRect">
            <a:avLst>
              <a:gd name="adj" fmla="val 6512"/>
            </a:avLst>
          </a:prstGeom>
          <a:solidFill>
            <a:srgbClr val="FFFFFF"/>
          </a:solidFill>
          <a:ln/>
          <a:effectLst>
            <a:outerShdw blurRad="177800" dist="63500" dir="5400000" algn="bl" rotWithShape="0">
              <a:srgbClr val="1B2A21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579108" y="4773168"/>
            <a:ext cx="658368" cy="658368"/>
          </a:xfrm>
          <a:prstGeom prst="ellipse">
            <a:avLst/>
          </a:prstGeom>
          <a:solidFill>
            <a:srgbClr val="F59E0B"/>
          </a:solidFill>
          <a:ln/>
          <a:effectLst>
            <a:outerShdw blurRad="127000" dist="38100" dir="5400000" algn="bl" rotWithShape="0">
              <a:srgbClr val="1B2A21">
                <a:alpha val="16000"/>
              </a:srgbClr>
            </a:outerShdw>
          </a:effectLst>
        </p:spPr>
      </p:sp>
      <p:pic>
        <p:nvPicPr>
          <p:cNvPr id="25" name="Image 3" descr="/home/claude/cryptosight_ppt/icons/warning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37116" y="4931176"/>
            <a:ext cx="342351" cy="342351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383780" y="4828032"/>
            <a:ext cx="37261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5E8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ENHANCEMENT</a:t>
            </a:r>
            <a:endParaRPr lang="en-US" sz="950" dirty="0"/>
          </a:p>
        </p:txBody>
      </p:sp>
      <p:sp>
        <p:nvSpPr>
          <p:cNvPr id="27" name="Text 21"/>
          <p:cNvSpPr/>
          <p:nvPr/>
        </p:nvSpPr>
        <p:spPr>
          <a:xfrm>
            <a:off x="7383780" y="5084064"/>
            <a:ext cx="37261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B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Detector</a:t>
            </a:r>
            <a:endParaRPr lang="en-US" sz="1600" dirty="0"/>
          </a:p>
        </p:txBody>
      </p:sp>
      <p:sp>
        <p:nvSpPr>
          <p:cNvPr id="28" name="Text 22"/>
          <p:cNvSpPr/>
          <p:nvPr/>
        </p:nvSpPr>
        <p:spPr>
          <a:xfrm>
            <a:off x="6579108" y="5650992"/>
            <a:ext cx="45125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Warns of fake price moves early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5E8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804672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 err="1">
                <a:solidFill>
                  <a:srgbClr val="1B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Dashbaord</a:t>
            </a:r>
            <a:endParaRPr lang="en-US" sz="34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FD96D4B-4758-694F-F98A-B945BCD73D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205" y="1490472"/>
            <a:ext cx="10213910" cy="48583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514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7DA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CRYPTOSIGHT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283464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400" dirty="0"/>
          </a:p>
        </p:txBody>
      </p:sp>
      <p:sp>
        <p:nvSpPr>
          <p:cNvPr id="4" name="Shape 2"/>
          <p:cNvSpPr/>
          <p:nvPr/>
        </p:nvSpPr>
        <p:spPr>
          <a:xfrm>
            <a:off x="841248" y="4160520"/>
            <a:ext cx="457200" cy="41148"/>
          </a:xfrm>
          <a:prstGeom prst="rect">
            <a:avLst/>
          </a:prstGeom>
          <a:solidFill>
            <a:srgbClr val="7DAD8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43434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6172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DA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Afnan Shoukat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226</Words>
  <Application>Microsoft Office PowerPoint</Application>
  <PresentationFormat>Widescreen</PresentationFormat>
  <Paragraphs>80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Afnan Shoukat</cp:lastModifiedBy>
  <cp:revision>2</cp:revision>
  <dcterms:created xsi:type="dcterms:W3CDTF">2026-07-30T07:36:33Z</dcterms:created>
  <dcterms:modified xsi:type="dcterms:W3CDTF">2026-07-30T07:41:58Z</dcterms:modified>
</cp:coreProperties>
</file>